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2AE24-C245-4ABC-AFC6-41029EB392E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F5CCE-A340-4AFD-AFA3-E9C9A61ED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3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2040-FA9E-B35C-2AD8-48BD2CCDC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52DC4-7B54-7888-5C09-5B7E1D693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E1339-8B6D-5FC9-5C8D-8D73ADA5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B5A7-81AF-46D9-9838-4DFF9316775F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432-8BA6-1D62-57D5-CEB74725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78704-FCBA-C0D7-B550-C20BE8CD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1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ADCC-A24B-B594-2215-BC2A0015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BC97B-B026-2BBC-7C27-EF0033C7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50941-18A5-8F7A-A3CC-48A41391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0FEB1-33DD-48ED-997E-20845CF9FFC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09FF-6EDD-460F-0529-BD157AA2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4592C-1466-07A4-890A-647AE1FA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1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5781-A02F-86B9-C7B9-F0AED675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41390-650B-6A1C-3AAB-3DE4ADD47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16943-3793-A96F-A907-B153A481A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2266-5587-4FB8-8D57-D27D9A82539B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6844E-448A-E193-2840-3927F6E0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97C8-620B-542B-1769-7304623F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62E6-877D-07DC-4AE8-F8DD7AD3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5C74-22C5-FE2C-932D-02806F17E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C8B6B-A290-EC40-EC53-7BA9FA0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54B6D-AFC0-A369-2205-A649951D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308FB-BAA4-47A2-AB8E-18118210A89A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FDE42-44B9-7FF4-721B-A0108F10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83EB5-1CFB-EAA3-8D8A-FE6B7524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5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CC74-EA04-7858-9B96-AD4E125E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F3F25-5288-E846-091E-881F02BEE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4397E-608C-8120-A6AE-819C94D56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F04AF-9AD8-9F03-E421-39D304795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55978-088C-5601-F30C-38B867D2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7D2DC-ECBC-E9E2-A805-98D7D3F5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5A3F-A4C2-4CE6-8391-53D70AC5436A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4504F-4584-F387-8F48-9FEA7162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25D18-ED46-0EC7-52E2-622010AF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6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619A-925F-FCB1-DCB8-567F10BA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2B754-27FB-1379-DF9D-645290DC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E6A7-CF0F-45F6-9DDC-C4092F888977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4A749-FEA1-C777-EA67-6A23449B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86850-3F03-B67C-A9A4-19F01C32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D5656-CC14-3A08-FB20-1E236450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2F3C-EB11-470E-9C51-12CE256CCF05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B812F-6F73-C3EF-E9E3-FE094FAF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D996-A2DF-CB2E-C97E-80C09996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6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C08E-A2E1-966E-04B1-F42AA5A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922E8-9FC2-B7E1-016F-5D7AC8AB9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3FE05-8904-5D15-EBCC-6A634166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4C6EF-BE5D-A989-A934-81ABFB0C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4F83-3428-46EE-AF6C-8296B5F6597A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CF9D-973C-F426-A7CC-160899EE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115B2-2B37-92E3-2E6C-6B2204F3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9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7092-3BEE-A1CB-DC34-B5B4DB2D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8D8A4-AF6F-6F9C-71DE-D055EB0D3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2668D-BD24-B431-4297-0D4A399E8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83BB-CA4D-7935-D549-B4D77CF3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6D52E-F050-41F9-A6DC-39C460C15D84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4A319-4771-B206-0347-6AFBC178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126A3-735B-F8B5-5264-2526DC7C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1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F215-89E8-FFB7-21B7-B6A97C3B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3BA5F-5B4C-C906-F897-A7997203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AC75-916F-09F3-C24C-F9E95E54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0D4F-2177-4AAE-89DC-9886E011EE7A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78E0E-C0B4-1B3E-F55B-B8A31AC50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3028-4450-1244-20B8-71FA31D5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1176B-E116-2A49-8CE3-1539D68B1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1789-B0BA-56E0-8F3D-0B565F26E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3375-77EC-2DF7-6E93-830EC842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F54E-D803-4475-A2AE-C25634B43B70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90D8D-B458-37DF-CB8B-4AF0DA4E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38129-DABE-E2EF-55C7-207CBEC5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89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86B2A-9A47-2DBB-DAB5-6AC3F30E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8F9EB-D221-F1A3-120D-E22119ADE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91141-49F2-03D8-872C-81BE61545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88D89-6DE7-47AE-8EF8-BB01887588D3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807D-C337-3FF0-6919-B0865EC9B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B009D-F739-F57B-2248-BC4F3B2FD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5946F-03EE-44F7-BF55-7885303D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9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44D2-9465-76BD-C99B-B3679F5E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SENTIMENT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E2BCB-FAF8-56FE-2535-E91D05101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677400" cy="280828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     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0" algn="l"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Abigiya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Solomon --------- NSR/458/14  </a:t>
            </a:r>
          </a:p>
          <a:p>
            <a:pPr lvl="0" algn="l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Betel Tarekegn ------------ NSR/3010/14  </a:t>
            </a:r>
          </a:p>
          <a:p>
            <a:pPr lvl="0" algn="l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Elsa Husen ----------------- NSR/852/13  </a:t>
            </a:r>
          </a:p>
          <a:p>
            <a:pPr lvl="0" algn="l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Meklit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Mathewos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---------- NSR/2460/14  </a:t>
            </a:r>
          </a:p>
          <a:p>
            <a:pPr lvl="0" algn="l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Solomon Aragaw ---------- NSR/1998/14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8120-8092-81ED-CA12-9789DFF0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96A4-1386-30C0-F035-C3A3AB488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generates large volumes of text data that reflect public opinions and emotions. However, this data is noisy, unstructured, and difficult to analyze using traditional methods. There is a need for a scalable system that can efficiently process social media data and accurately classify sentiment using machine learning techniques.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big data tools and machine learning can be combined to analyze social media sentiment effectively. It helps transform raw text into meaningful insights, supports better decision-making, and provides a practical, scalable solution for real-world sentiment analysis.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55658-6B2F-02A8-0749-264D1909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FA8C-F71A-530A-4FC7-A9DDA2C5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D8BB-BBEE-DEEA-8E59-7676AD91D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 (Reddit &amp; Twitter)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Reddit (comments/posts)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Semi_Structured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id, author, subreddit, body, score, ups/downs,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created_utc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Twitte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(tweets/retweets) (Structured):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location, followers, text, hashtags, date,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&amp; Types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rows: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1,173,517 million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posts, comments, tweets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scores, followers, ups/downs(likes/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unlikes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subreddit, verified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0C930-BA4F-8F8A-731A-7804FB4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D938-7608-6BC4-D158-3FE05C97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1690-302E-C23A-40E0-159478FF6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lnSpc>
                <a:spcPct val="17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Storage: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(Data ingestion, ETL(</a:t>
            </a:r>
            <a:r>
              <a:rPr lang="en-US" sz="2800" dirty="0"/>
              <a:t>Extract, Transform, Load)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cleaning)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(Structured &amp; semi-structured data storage)</a:t>
            </a:r>
          </a:p>
          <a:p>
            <a:pPr>
              <a:lnSpc>
                <a:spcPct val="17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Visualization: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(python library for data manipulation for visualization)</a:t>
            </a: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 (EDA</a:t>
            </a:r>
            <a:r>
              <a:rPr lang="am-E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/>
              <a:t>Exploratory Data Analysis</a:t>
            </a:r>
            <a:r>
              <a:rPr lang="am-ET" sz="2800" dirty="0">
                <a:cs typeface="Times New Roman" panose="02020603050405020304" pitchFamily="18" charset="0"/>
              </a:rPr>
              <a:t>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&amp; dashboard plots)</a:t>
            </a:r>
          </a:p>
          <a:p>
            <a:pPr>
              <a:lnSpc>
                <a:spcPct val="17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(Logistic Regression, Naive Bayes, Linear SVM</a:t>
            </a:r>
            <a:r>
              <a:rPr lang="am-E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/>
              <a:t>Support Vector Machine</a:t>
            </a:r>
            <a:r>
              <a:rPr lang="am-ET" sz="2800" dirty="0"/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(Interactive sentiment prediction app)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15C67-8558-AA4E-117E-B321EFA9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73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82AB-CEE2-4AEC-1A34-705512E85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6900"/>
          </a:xfrm>
        </p:spPr>
        <p:txBody>
          <a:bodyPr>
            <a:normAutofit fontScale="90000"/>
          </a:bodyPr>
          <a:lstStyle/>
          <a:p>
            <a:r>
              <a:rPr lang="en-US" dirty="0"/>
              <a:t>Workflow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4AC87-520B-D275-8F7B-61D299F47B76}"/>
              </a:ext>
            </a:extLst>
          </p:cNvPr>
          <p:cNvSpPr/>
          <p:nvPr/>
        </p:nvSpPr>
        <p:spPr>
          <a:xfrm>
            <a:off x="619125" y="1257300"/>
            <a:ext cx="1323975" cy="800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</a:p>
        </p:txBody>
      </p:sp>
      <p:cxnSp>
        <p:nvCxnSpPr>
          <p:cNvPr id="5" name="Straight Arrow Connector 4" descr="jjjjjj">
            <a:extLst>
              <a:ext uri="{FF2B5EF4-FFF2-40B4-BE49-F238E27FC236}">
                <a16:creationId xmlns:a16="http://schemas.microsoft.com/office/drawing/2014/main" id="{F4070538-9E46-FACF-44A1-0C18F89CDFA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943100" y="1657350"/>
            <a:ext cx="1190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EB324D-25CD-30FD-E2EE-D9DDE655058D}"/>
              </a:ext>
            </a:extLst>
          </p:cNvPr>
          <p:cNvSpPr txBox="1"/>
          <p:nvPr/>
        </p:nvSpPr>
        <p:spPr>
          <a:xfrm>
            <a:off x="1943100" y="1395740"/>
            <a:ext cx="10144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 Ingestion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93484-219E-B62C-6C21-798E0BD6E92D}"/>
              </a:ext>
            </a:extLst>
          </p:cNvPr>
          <p:cNvSpPr/>
          <p:nvPr/>
        </p:nvSpPr>
        <p:spPr>
          <a:xfrm>
            <a:off x="3133725" y="1162057"/>
            <a:ext cx="1933575" cy="1076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Ingestion</a:t>
            </a:r>
          </a:p>
          <a:p>
            <a:pPr algn="ctr"/>
            <a:r>
              <a:rPr lang="en-US" sz="1200" dirty="0"/>
              <a:t>- Load structured &amp; semi-structured data</a:t>
            </a:r>
          </a:p>
          <a:p>
            <a:pPr algn="ctr"/>
            <a:r>
              <a:rPr lang="en-US" sz="1200" dirty="0"/>
              <a:t>- Store in HDFS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D0A99B-F345-09EC-87F2-8C9B129CCC37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067300" y="1700216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5C58C5-052A-BF1C-FC22-6D4802373F47}"/>
              </a:ext>
            </a:extLst>
          </p:cNvPr>
          <p:cNvSpPr txBox="1"/>
          <p:nvPr/>
        </p:nvSpPr>
        <p:spPr>
          <a:xfrm>
            <a:off x="5019675" y="1395740"/>
            <a:ext cx="1038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ETL Pipeline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D1FA22-3F0B-4776-EB45-E3B92ACA9BEF}"/>
              </a:ext>
            </a:extLst>
          </p:cNvPr>
          <p:cNvSpPr/>
          <p:nvPr/>
        </p:nvSpPr>
        <p:spPr>
          <a:xfrm>
            <a:off x="5962650" y="1000125"/>
            <a:ext cx="3086100" cy="1314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ETL Pipeline</a:t>
            </a:r>
          </a:p>
          <a:p>
            <a:pPr algn="ctr"/>
            <a:r>
              <a:rPr lang="en-US" sz="1200" dirty="0"/>
              <a:t>- Extract: Load from HDFS</a:t>
            </a:r>
          </a:p>
          <a:p>
            <a:pPr algn="ctr"/>
            <a:r>
              <a:rPr lang="en-US" sz="1200" dirty="0"/>
              <a:t>- Transform: Clean, lowercase, add source column</a:t>
            </a:r>
          </a:p>
          <a:p>
            <a:pPr algn="ctr"/>
            <a:r>
              <a:rPr lang="en-US" sz="1200" dirty="0"/>
              <a:t>- Load: Save cleaned data to HDFS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D5F90D-40AD-0C4B-ED90-EC2C3B1647B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048750" y="165735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AD9F0A-B829-6236-7C6F-1A48DBC5D88A}"/>
              </a:ext>
            </a:extLst>
          </p:cNvPr>
          <p:cNvSpPr txBox="1"/>
          <p:nvPr/>
        </p:nvSpPr>
        <p:spPr>
          <a:xfrm>
            <a:off x="9048750" y="1357641"/>
            <a:ext cx="1295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Merging Datasets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8CD060-1490-F68C-38BB-FB386846B9B8}"/>
              </a:ext>
            </a:extLst>
          </p:cNvPr>
          <p:cNvSpPr/>
          <p:nvPr/>
        </p:nvSpPr>
        <p:spPr>
          <a:xfrm>
            <a:off x="10344151" y="962026"/>
            <a:ext cx="1543050" cy="1352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Merging Datasets</a:t>
            </a:r>
          </a:p>
          <a:p>
            <a:pPr algn="ctr"/>
            <a:r>
              <a:rPr lang="en-US" sz="1100" dirty="0"/>
              <a:t>- Combine structured &amp; semi-structured</a:t>
            </a:r>
          </a:p>
          <a:p>
            <a:pPr algn="ctr"/>
            <a:r>
              <a:rPr lang="en-US" sz="1100" dirty="0"/>
              <a:t>- Align columns &amp; handle missing values</a:t>
            </a:r>
          </a:p>
          <a:p>
            <a:pPr algn="ctr"/>
            <a:r>
              <a:rPr lang="en-US" sz="1100" dirty="0"/>
              <a:t>- Store temporarily in HDFS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E6D987-490F-649A-2FD0-277C82EA69F2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1115676" y="2314570"/>
            <a:ext cx="0" cy="66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82B28B6-55A4-83AC-A789-CB7FC34ACD60}"/>
              </a:ext>
            </a:extLst>
          </p:cNvPr>
          <p:cNvSpPr txBox="1"/>
          <p:nvPr/>
        </p:nvSpPr>
        <p:spPr>
          <a:xfrm rot="5400000">
            <a:off x="10978377" y="2428383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Store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82D018-2D24-2A8D-7061-494D9ACD6AD0}"/>
              </a:ext>
            </a:extLst>
          </p:cNvPr>
          <p:cNvSpPr/>
          <p:nvPr/>
        </p:nvSpPr>
        <p:spPr>
          <a:xfrm>
            <a:off x="9829801" y="2981325"/>
            <a:ext cx="2057400" cy="12096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Take the temporary data and store it permanently (</a:t>
            </a:r>
            <a:r>
              <a:rPr lang="en-US" sz="1100" dirty="0" err="1"/>
              <a:t>final_dataset</a:t>
            </a:r>
            <a:r>
              <a:rPr lang="en-US" sz="1100" dirty="0"/>
              <a:t>) to </a:t>
            </a:r>
            <a:r>
              <a:rPr lang="en-US" sz="1100" dirty="0" err="1"/>
              <a:t>hdfs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7F86B3-0417-D1A1-6D07-7CE5072DF78A}"/>
              </a:ext>
            </a:extLst>
          </p:cNvPr>
          <p:cNvSpPr/>
          <p:nvPr/>
        </p:nvSpPr>
        <p:spPr>
          <a:xfrm>
            <a:off x="6057900" y="3076573"/>
            <a:ext cx="2171700" cy="1019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Exploratory Data Analysis (EDA)</a:t>
            </a:r>
          </a:p>
          <a:p>
            <a:pPr algn="ctr"/>
            <a:r>
              <a:rPr lang="en-US" sz="1100" dirty="0"/>
              <a:t>- Inspect dataset structure</a:t>
            </a:r>
          </a:p>
          <a:p>
            <a:pPr algn="ctr"/>
            <a:r>
              <a:rPr lang="en-US" sz="1100" dirty="0"/>
              <a:t>- Count missing values</a:t>
            </a:r>
          </a:p>
          <a:p>
            <a:pPr algn="ctr"/>
            <a:r>
              <a:rPr lang="en-US" sz="1100" dirty="0"/>
              <a:t>- Analyze top text values</a:t>
            </a:r>
          </a:p>
          <a:p>
            <a:pPr algn="ctr"/>
            <a:r>
              <a:rPr lang="en-US" sz="1100" dirty="0"/>
              <a:t>- Numeric statistics &amp; distributions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0F6BC4-8BDD-DE69-1A01-672C5D8476A3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8229600" y="3586162"/>
            <a:ext cx="1600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71A9210-BDF8-DDE5-6C87-8258E8983A67}"/>
              </a:ext>
            </a:extLst>
          </p:cNvPr>
          <p:cNvSpPr txBox="1"/>
          <p:nvPr/>
        </p:nvSpPr>
        <p:spPr>
          <a:xfrm>
            <a:off x="8229600" y="3324551"/>
            <a:ext cx="1714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Exploratory Data Analysis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39B0F6-4879-67B5-D154-AEDC3515BEAA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4762499" y="3586160"/>
            <a:ext cx="12954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AF691CC-56B5-64F1-24BE-42A4827FD9A2}"/>
              </a:ext>
            </a:extLst>
          </p:cNvPr>
          <p:cNvSpPr txBox="1"/>
          <p:nvPr/>
        </p:nvSpPr>
        <p:spPr>
          <a:xfrm>
            <a:off x="4762499" y="3333749"/>
            <a:ext cx="1504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Feature Engineering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9B4142-9F09-D630-9F95-0CDD6A7F68B9}"/>
              </a:ext>
            </a:extLst>
          </p:cNvPr>
          <p:cNvSpPr/>
          <p:nvPr/>
        </p:nvSpPr>
        <p:spPr>
          <a:xfrm>
            <a:off x="2705099" y="2981326"/>
            <a:ext cx="2057400" cy="1209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Feature Engineering</a:t>
            </a:r>
          </a:p>
          <a:p>
            <a:pPr algn="ctr"/>
            <a:r>
              <a:rPr lang="en-US" sz="1100" dirty="0"/>
              <a:t>- Clean text: lowercase, remove symbols &amp; </a:t>
            </a:r>
            <a:r>
              <a:rPr lang="en-US" sz="1100" dirty="0" err="1"/>
              <a:t>stopwords</a:t>
            </a:r>
            <a:endParaRPr lang="en-US" sz="1100" dirty="0"/>
          </a:p>
          <a:p>
            <a:pPr algn="ctr"/>
            <a:r>
              <a:rPr lang="en-US" sz="1100" dirty="0"/>
              <a:t>- Generate sentiment labels: Positive, Negative, Neutral</a:t>
            </a:r>
          </a:p>
          <a:p>
            <a:pPr algn="ctr"/>
            <a:endParaRPr lang="en-US" sz="1100" dirty="0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73764B1-795C-69F8-34AB-0D5E8748CAE0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V="1">
            <a:off x="1624011" y="3586162"/>
            <a:ext cx="1081088" cy="11382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F96DD50-642E-43EF-FE82-01257282B70A}"/>
              </a:ext>
            </a:extLst>
          </p:cNvPr>
          <p:cNvSpPr txBox="1"/>
          <p:nvPr/>
        </p:nvSpPr>
        <p:spPr>
          <a:xfrm rot="16200000">
            <a:off x="984567" y="3823339"/>
            <a:ext cx="10502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Model Training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5298B1-7FF5-3838-1CD9-D0FCC67F0B35}"/>
              </a:ext>
            </a:extLst>
          </p:cNvPr>
          <p:cNvSpPr/>
          <p:nvPr/>
        </p:nvSpPr>
        <p:spPr>
          <a:xfrm>
            <a:off x="435376" y="4636450"/>
            <a:ext cx="2103036" cy="1214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Model Training</a:t>
            </a:r>
          </a:p>
          <a:p>
            <a:pPr algn="ctr"/>
            <a:r>
              <a:rPr lang="en-US" sz="1100" dirty="0"/>
              <a:t>- Logistic Regression</a:t>
            </a:r>
          </a:p>
          <a:p>
            <a:pPr algn="ctr"/>
            <a:r>
              <a:rPr lang="en-US" sz="1100" dirty="0"/>
              <a:t>- Multinomial Naive Bayes</a:t>
            </a:r>
          </a:p>
          <a:p>
            <a:pPr algn="ctr"/>
            <a:r>
              <a:rPr lang="en-US" sz="1100" dirty="0"/>
              <a:t>- Linear SVM(Support vector machine)</a:t>
            </a:r>
          </a:p>
          <a:p>
            <a:pPr algn="ctr"/>
            <a:r>
              <a:rPr lang="en-US" sz="1100" dirty="0"/>
              <a:t>- Training on TF-IDF(converts text into numerical form) features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69975E-1200-7A2C-5242-28B8C0A9380E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2538412" y="5243669"/>
            <a:ext cx="2103036" cy="5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765FA00-C975-5D69-592E-298372A08156}"/>
              </a:ext>
            </a:extLst>
          </p:cNvPr>
          <p:cNvSpPr txBox="1"/>
          <p:nvPr/>
        </p:nvSpPr>
        <p:spPr>
          <a:xfrm>
            <a:off x="2573465" y="5000520"/>
            <a:ext cx="2032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Model Evaluation &amp; Comparison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E9CE1C9-8980-EB38-BEBC-71692A201625}"/>
              </a:ext>
            </a:extLst>
          </p:cNvPr>
          <p:cNvSpPr/>
          <p:nvPr/>
        </p:nvSpPr>
        <p:spPr>
          <a:xfrm>
            <a:off x="4641447" y="4776358"/>
            <a:ext cx="2103036" cy="971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Model Evaluation &amp; Comparison</a:t>
            </a:r>
          </a:p>
          <a:p>
            <a:pPr algn="ctr"/>
            <a:r>
              <a:rPr lang="en-US" sz="1100" dirty="0"/>
              <a:t>- Test on unseen data</a:t>
            </a:r>
          </a:p>
          <a:p>
            <a:pPr algn="ctr"/>
            <a:r>
              <a:rPr lang="en-US" sz="1100" dirty="0"/>
              <a:t>- Accuracy</a:t>
            </a:r>
          </a:p>
          <a:p>
            <a:pPr algn="ctr"/>
            <a:r>
              <a:rPr lang="en-US" sz="1100" dirty="0"/>
              <a:t>- Compare LR, Naive Bayes, SVM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8820E3-9C88-D35D-0C28-D840242CEAFD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744483" y="5262130"/>
            <a:ext cx="1116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E6BF6C2-6829-7D43-82B3-953704034F82}"/>
              </a:ext>
            </a:extLst>
          </p:cNvPr>
          <p:cNvSpPr txBox="1"/>
          <p:nvPr/>
        </p:nvSpPr>
        <p:spPr>
          <a:xfrm>
            <a:off x="6779536" y="5000520"/>
            <a:ext cx="9973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User Interface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B1000E-4D33-6BC5-69F2-1645CA6B3BDF}"/>
              </a:ext>
            </a:extLst>
          </p:cNvPr>
          <p:cNvSpPr/>
          <p:nvPr/>
        </p:nvSpPr>
        <p:spPr>
          <a:xfrm>
            <a:off x="7861176" y="4736985"/>
            <a:ext cx="3134773" cy="1050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User Interface (</a:t>
            </a:r>
            <a:r>
              <a:rPr lang="en-US" sz="1100" dirty="0" err="1"/>
              <a:t>Streamlit</a:t>
            </a:r>
            <a:r>
              <a:rPr lang="en-US" sz="1100" dirty="0"/>
              <a:t>)</a:t>
            </a:r>
          </a:p>
          <a:p>
            <a:pPr algn="ctr"/>
            <a:r>
              <a:rPr lang="en-US" sz="1100" dirty="0"/>
              <a:t>- Input social media text</a:t>
            </a:r>
          </a:p>
          <a:p>
            <a:pPr algn="ctr"/>
            <a:r>
              <a:rPr lang="en-US" sz="1100" dirty="0"/>
              <a:t>- SVM model</a:t>
            </a:r>
          </a:p>
          <a:p>
            <a:pPr algn="ctr"/>
            <a:r>
              <a:rPr lang="en-US" sz="1100" dirty="0"/>
              <a:t>- Predict sentiment: Positive / Neutral / Negative</a:t>
            </a:r>
          </a:p>
          <a:p>
            <a:pPr algn="ctr"/>
            <a:endParaRPr lang="en-US" sz="1100" dirty="0"/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E3C72673-EA96-6414-A2DA-89259956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8DEF-4AB2-D816-A6C7-7810F08F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Pipeline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AE5C26-98A0-8DB9-B5DE-7F7183636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5366"/>
            <a:ext cx="10164962" cy="3971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→ cleaned → processed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noise, duplicates,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Remove duplicates, special characters,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lowercase text; rename &amp; align columns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Merged datasets stored in HDFS, ready for ML &amp; EDA(</a:t>
            </a:r>
            <a:r>
              <a:rPr lang="en-US" sz="1800" dirty="0"/>
              <a:t>Exploratory Data Analysis)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connecting to HDFS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Sourcing semi-structured data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shutdowns during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DEF18-5675-6E67-F9E5-ED6C127B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8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E4C9-823E-E8E7-71C6-1B9AFC5F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475A-8E31-55AA-757E-1DA78F9F9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KPIs(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Indicator)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Posts Analyzed: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1,173,517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Sentiment: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24.43% |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64.49% |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11.07%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 Words: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the: 1,199,189 to: 755,473 a: 659,840 of: 569,520 and: 558,598 i: 500,492 is: 428,723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that: 424,401 in: 386,209 you: 381,230</a:t>
            </a:r>
          </a:p>
          <a:p>
            <a:pPr marL="0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Top 10 words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 Sentiment distribution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posts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words that appear most often show what people are talking about and what interests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D4A2C-772B-8587-F858-0828B6B6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800A-0D07-76EC-909B-81F5D33F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CA42-8B5C-0F29-ACCC-B25D581D5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Support Vector Machine (SVM)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TF-IDF(helps a model pick important words and ignore common ones) vectors from cleaned social media text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word importance relative to the dataset(Words that appear a lot in one post but rarely in other posts get higher importance)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91.59%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72.12%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92.32% (for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finilize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pipeline)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43923-C941-8DA2-5F60-C343AA22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9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3D7F-B752-481E-5A20-1656DC9F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5765-54C8-3B63-86A5-7449EC68F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sentiment prediction for user input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Color-coded output: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(Positive),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(Neutral),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(Negative)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input box with instant feedback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Underlying System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web interaction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intuitive interface for all users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sentiment analysis without technical setup(Installing Python, Setting up a database, Configuring environments)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25EAF-0C9F-2791-6FD7-A36ABEF1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E2B0-E35A-ED99-CA52-3496C49F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E168-BC2B-5601-6D71-C2B46937E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posts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words that appear most often show what people are talking about and what interests them.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Positively: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Respond to positive posts to strengthen user loyalty</a:t>
            </a:r>
          </a:p>
          <a:p>
            <a:pPr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Negative Feedback: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and respond to negative sentiment quickly</a:t>
            </a:r>
          </a:p>
          <a:p>
            <a:pPr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Regularly update BI dashboards to detect changes in sentiment</a:t>
            </a:r>
          </a:p>
          <a:p>
            <a:pPr>
              <a:lnSpc>
                <a:spcPct val="16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A974-7312-267F-1D24-17518904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3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0302-C3BA-65AA-DA33-BB07131B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8917-BB21-C54A-A966-E25BC42F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 is crucial for accurate sentiment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pipelines help manage structured &amp; semi-structured data efficiently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shutdowns interrupted data access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 was hard to source &amp; standardize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datasets for more diverse social media content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advanced ML/DL models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analytics and dashboard updates(show updated results immediately)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6E97C-9843-5659-2873-5BDFABFF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5946F-03EE-44F7-BF55-7885303D3E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5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1005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SOCIAL MEDIA SENTIMENT Group F</vt:lpstr>
      <vt:lpstr>Introduction</vt:lpstr>
      <vt:lpstr>Data Sources</vt:lpstr>
      <vt:lpstr>Big Data Architecture</vt:lpstr>
      <vt:lpstr>Workflow diagram</vt:lpstr>
      <vt:lpstr>ETL Pipeline</vt:lpstr>
      <vt:lpstr>BI Analysis</vt:lpstr>
      <vt:lpstr>Machine Learning Model</vt:lpstr>
      <vt:lpstr>Dashboard Demo</vt:lpstr>
      <vt:lpstr>Business 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Solomon Aragaw</dc:creator>
  <cp:lastModifiedBy>Solomon Aragaw</cp:lastModifiedBy>
  <cp:revision>38</cp:revision>
  <dcterms:created xsi:type="dcterms:W3CDTF">2025-12-23T06:54:26Z</dcterms:created>
  <dcterms:modified xsi:type="dcterms:W3CDTF">2025-12-25T07:56:04Z</dcterms:modified>
</cp:coreProperties>
</file>