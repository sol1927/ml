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1"/>
  </p:sldMasterIdLst>
  <p:notesMasterIdLst>
    <p:notesMasterId r:id="rId13"/>
  </p:notesMasterIdLst>
  <p:sldIdLst>
    <p:sldId id="256" r:id="rId2"/>
    <p:sldId id="258" r:id="rId3"/>
    <p:sldId id="257" r:id="rId4"/>
    <p:sldId id="259" r:id="rId5"/>
    <p:sldId id="262" r:id="rId6"/>
    <p:sldId id="261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12AE24-C245-4ABC-AFC6-41029EB392E7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FF5CCE-A340-4AFD-AFA3-E9C9A61ED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4393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02040-FA9E-B35C-2AD8-48BD2CCDCD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F52DC4-7B54-7888-5C09-5B7E1D693D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EE1339-8B6D-5FC9-5C8D-8D73ADA59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A7B5A7-81AF-46D9-9838-4DFF9316775F}" type="datetime1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E9B432-8BA6-1D62-57D5-CEB747257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A78704-FCBA-C0D7-B550-C20BE8CD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3152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8ADCC-A24B-B594-2215-BC2A0015B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BC97B-B026-2BBC-7C27-EF0033C73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350941-18A5-8F7A-A3CC-48A413914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0FEB1-33DD-48ED-997E-20845CF9FFC6}" type="datetime1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A09FF-6EDD-460F-0529-BD157AA2E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A4592C-1466-07A4-890A-647AE1FA4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914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55781-A02F-86B9-C7B9-F0AED6753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341390-650B-6A1C-3AAB-3DE4ADD473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016943-3793-A96F-A907-B153A481A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02266-5587-4FB8-8D57-D27D9A82539B}" type="datetime1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E6844E-448A-E193-2840-3927F6E0C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697C8-620B-542B-1769-7304623F9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1347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A62E6-877D-07DC-4AE8-F8DD7AD35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C5C74-22C5-FE2C-932D-02806F17EA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CC8B6B-A290-EC40-EC53-7BA9FA0A8D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B54B6D-AFC0-A369-2205-A649951D9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308FB-BAA4-47A2-AB8E-18118210A89A}" type="datetime1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AFDE42-44B9-7FF4-721B-A0108F10B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083EB5-1CFB-EAA3-8D8A-FE6B7524A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055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6CC74-EA04-7858-9B96-AD4E125EA8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EF3F25-5288-E846-091E-881F02BEED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4397E-608C-8120-A6AE-819C94D560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BF04AF-9AD8-9F03-E421-39D3047950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A55978-088C-5601-F30C-38B867D250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C7D2DC-ECBC-E9E2-A805-98D7D3F5A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95A3F-A4C2-4CE6-8391-53D70AC5436A}" type="datetime1">
              <a:rPr lang="en-US" smtClean="0"/>
              <a:t>12/23/2025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84504F-4584-F387-8F48-9FEA71627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925D18-ED46-0EC7-52E2-622010AF7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2643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B619A-925F-FCB1-DCB8-567F10BAC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F2B754-27FB-1379-DF9D-645290DCB8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2E6A7-CF0F-45F6-9DDC-C4092F888977}" type="datetime1">
              <a:rPr lang="en-US" smtClean="0"/>
              <a:t>12/23/2025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B4A749-FEA1-C777-EA67-6A23449B7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D86850-3F03-B67C-A9A4-19F01C320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89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4D5656-CC14-3A08-FB20-1E236450E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42F3C-EB11-470E-9C51-12CE256CCF05}" type="datetime1">
              <a:rPr lang="en-US" smtClean="0"/>
              <a:t>12/23/2025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8B812F-6F73-C3EF-E9E3-FE094FAFDA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B5D996-A2DF-CB2E-C97E-80C09996D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065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4C08E-A2E1-966E-04B1-F42AA5A05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922E8-9FC2-B7E1-016F-5D7AC8AB9C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03FE05-8904-5D15-EBCC-6A63416624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84C6EF-BE5D-A989-A934-81ABFB0C2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744F83-3428-46EE-AF6C-8296B5F6597A}" type="datetime1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F3CF9D-973C-F426-A7CC-160899EE6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6115B2-2B37-92E3-2E6C-6B2204F32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3905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C7092-3BEE-A1CB-DC34-B5B4DB2D2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D8D8A4-AF6F-6F9C-71DE-D055EB0D38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32668D-BD24-B431-4297-0D4A399E80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4E83BB-CA4D-7935-D549-B4D77CF3A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6D52E-F050-41F9-A6DC-39C460C15D84}" type="datetime1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44A319-4771-B206-0347-6AFBC178D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C126A3-735B-F8B5-5264-2526DC7C9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7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7F215-89E8-FFB7-21B7-B6A97C3B3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53BA5F-5B4C-C906-F897-A7997203F5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E5AC75-916F-09F3-C24C-F9E95E54C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3C0D4F-2177-4AAE-89DC-9886E011EE7A}" type="datetime1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F78E0E-C0B4-1B3E-F55B-B8A31AC50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153028-4450-1244-20B8-71FA31D56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577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3E1176B-E116-2A49-8CE3-1539D68B1E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E01789-B0BA-56E0-8F3D-0B565F26E8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193375-77EC-2DF7-6E93-830EC842F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FF54E-D803-4475-A2AE-C25634B43B70}" type="datetime1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E90D8D-B458-37DF-CB8B-4AF0DA4EB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238129-DABE-E2EF-55C7-207CBEC52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2899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786B2A-9A47-2DBB-DAB5-6AC3F30EF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B8F9EB-D221-F1A3-120D-E22119ADED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191141-49F2-03D8-872C-81BE615459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288D89-6DE7-47AE-8EF8-BB01887588D3}" type="datetime1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C4807D-C337-3FF0-6919-B0865EC9BD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5B009D-F739-F57B-2248-BC4F3B2FDB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E5946F-03EE-44F7-BF55-7885303D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7924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B44D2-9465-76BD-C99B-B3679F5E99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SOCIAL MEDIA SENTIMENT</a:t>
            </a:r>
            <a:b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F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DE2BCB-FAF8-56FE-2535-E91D051015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677400" cy="2808287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       </a:t>
            </a:r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</a:t>
            </a:r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  <a:p>
            <a:pPr lvl="0" algn="l" fontAlgn="base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Abigiya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Solomon --------- NSR/458/14  </a:t>
            </a:r>
          </a:p>
          <a:p>
            <a:pPr lvl="0" algn="l" fontAlgn="base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Betel Tarekegn ------------ NSR/3010/14  </a:t>
            </a:r>
          </a:p>
          <a:p>
            <a:pPr lvl="0" algn="l" fontAlgn="base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Elsa Husen ----------------- NSR/852/13  </a:t>
            </a:r>
          </a:p>
          <a:p>
            <a:pPr lvl="0" algn="l" fontAlgn="base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Meklit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Mathewos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---------- NSR/2460/14  </a:t>
            </a:r>
          </a:p>
          <a:p>
            <a:pPr lvl="0" algn="l" fontAlgn="base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Solomon Aragaw ---------- NSR/1998/14 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36289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F8120-8092-81ED-CA12-9789DFF0E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896A4-1386-30C0-F035-C3A3AB488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Definition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Social media generates large volumes of text data that reflect public opinions and emotions. However, this data is noisy, unstructured, and difficult to analyze using traditional methods. There is a need for a scalable system that can efficiently process social media data and accurately classify sentiment using machine learning techniques.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Importance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demonstrates how big data tools and machine learning can be combined to analyze social media sentiment effectively. It helps transform raw text into meaningful insights, supports better decision-making, and provides a practical, scalable solution for real-world sentiment analysis.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A55658-6B2F-02A8-0749-264D1909D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620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2FA8C-F71A-530A-4FC7-A9DDA2C5B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EAD8BB-BBEE-DEEA-8E59-7676AD91D6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Datasets</a:t>
            </a:r>
          </a:p>
          <a:p>
            <a:pPr>
              <a:lnSpc>
                <a:spcPct val="12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Kaggle (Reddit &amp; Twitter)</a:t>
            </a:r>
          </a:p>
          <a:p>
            <a:pPr>
              <a:lnSpc>
                <a:spcPct val="17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Reddit (Structured):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id, author, subreddit, body, score, ups/downs,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created_utc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7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Twitter (Semi-Structured):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user_name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location, followers, text, hashtags, date, source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Size &amp; Types</a:t>
            </a:r>
          </a:p>
          <a:p>
            <a:pPr>
              <a:lnSpc>
                <a:spcPct val="12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rows: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~1.7 million</a:t>
            </a:r>
          </a:p>
          <a:p>
            <a:pPr>
              <a:lnSpc>
                <a:spcPct val="17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posts, comments, tweets</a:t>
            </a:r>
          </a:p>
          <a:p>
            <a:pPr>
              <a:lnSpc>
                <a:spcPct val="17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Numeric: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scores, followers, ups/downs</a:t>
            </a:r>
          </a:p>
          <a:p>
            <a:pPr>
              <a:lnSpc>
                <a:spcPct val="17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Categorical: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subreddit, verified users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C0C930-BA4F-8F8A-731A-7804FB4EE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776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BD938-7608-6BC4-D158-3FE05C978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Big Data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31690-302E-C23A-40E0-159478FF68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Used</a:t>
            </a:r>
          </a:p>
          <a:p>
            <a:pPr>
              <a:lnSpc>
                <a:spcPct val="170000"/>
              </a:lnSpc>
            </a:pP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Processing &amp; Storage: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7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Apache Spark (Data ingestion, ETL, cleaning, transformation)</a:t>
            </a:r>
          </a:p>
          <a:p>
            <a:pPr lvl="1">
              <a:lnSpc>
                <a:spcPct val="17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HDFS (Structured &amp; semi-structured data storage)</a:t>
            </a:r>
          </a:p>
          <a:p>
            <a:pPr>
              <a:lnSpc>
                <a:spcPct val="170000"/>
              </a:lnSpc>
            </a:pP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Analysis &amp; Visualization: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7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Pandas (Data manipulation for visualization)</a:t>
            </a:r>
          </a:p>
          <a:p>
            <a:pPr lvl="1">
              <a:lnSpc>
                <a:spcPct val="17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Matplotlib / Seaborn (EDA visuals &amp; dashboard plots)</a:t>
            </a:r>
          </a:p>
          <a:p>
            <a:pPr>
              <a:lnSpc>
                <a:spcPct val="170000"/>
              </a:lnSpc>
            </a:pP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Learning: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7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Scikit-learn (Logistic Regression, Naive Bayes, Linear SVM)</a:t>
            </a:r>
          </a:p>
          <a:p>
            <a:pPr>
              <a:lnSpc>
                <a:spcPct val="170000"/>
              </a:lnSpc>
            </a:pP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Interface: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70000"/>
              </a:lnSpc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Streamlit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(Interactive sentiment prediction app)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B15C67-8558-AA4E-117E-B321EFA94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2737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B82AB-CEE2-4AEC-1A34-705512E85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96900"/>
          </a:xfrm>
        </p:spPr>
        <p:txBody>
          <a:bodyPr>
            <a:normAutofit fontScale="90000"/>
          </a:bodyPr>
          <a:lstStyle/>
          <a:p>
            <a:r>
              <a:rPr lang="en-US" dirty="0"/>
              <a:t>Workflow diagram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B4AC87-520B-D275-8F7B-61D299F47B76}"/>
              </a:ext>
            </a:extLst>
          </p:cNvPr>
          <p:cNvSpPr/>
          <p:nvPr/>
        </p:nvSpPr>
        <p:spPr>
          <a:xfrm>
            <a:off x="619125" y="1257300"/>
            <a:ext cx="1323975" cy="800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Raw Data</a:t>
            </a:r>
          </a:p>
        </p:txBody>
      </p:sp>
      <p:cxnSp>
        <p:nvCxnSpPr>
          <p:cNvPr id="5" name="Straight Arrow Connector 4" descr="jjjjjj">
            <a:extLst>
              <a:ext uri="{FF2B5EF4-FFF2-40B4-BE49-F238E27FC236}">
                <a16:creationId xmlns:a16="http://schemas.microsoft.com/office/drawing/2014/main" id="{F4070538-9E46-FACF-44A1-0C18F89CDFA5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1943100" y="1657350"/>
            <a:ext cx="11906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EEB324D-25CD-30FD-E2EE-D9DDE655058D}"/>
              </a:ext>
            </a:extLst>
          </p:cNvPr>
          <p:cNvSpPr txBox="1"/>
          <p:nvPr/>
        </p:nvSpPr>
        <p:spPr>
          <a:xfrm>
            <a:off x="1943100" y="1395740"/>
            <a:ext cx="10144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Data Ingestion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793484-219E-B62C-6C21-798E0BD6E92D}"/>
              </a:ext>
            </a:extLst>
          </p:cNvPr>
          <p:cNvSpPr/>
          <p:nvPr/>
        </p:nvSpPr>
        <p:spPr>
          <a:xfrm>
            <a:off x="3133725" y="1162057"/>
            <a:ext cx="1933575" cy="10763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Ingestion</a:t>
            </a:r>
          </a:p>
          <a:p>
            <a:pPr algn="ctr"/>
            <a:r>
              <a:rPr lang="en-US" sz="1200" dirty="0"/>
              <a:t>- Load structured &amp; semi-structured data</a:t>
            </a:r>
          </a:p>
          <a:p>
            <a:pPr algn="ctr"/>
            <a:r>
              <a:rPr lang="en-US" sz="1200" dirty="0"/>
              <a:t>- Apache Spark</a:t>
            </a:r>
          </a:p>
          <a:p>
            <a:pPr algn="ctr"/>
            <a:r>
              <a:rPr lang="en-US" sz="1200" dirty="0"/>
              <a:t>- Store in HDFS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3D0A99B-F345-09EC-87F2-8C9B129CCC37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5067300" y="1700216"/>
            <a:ext cx="8953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E5C58C5-052A-BF1C-FC22-6D4802373F47}"/>
              </a:ext>
            </a:extLst>
          </p:cNvPr>
          <p:cNvSpPr txBox="1"/>
          <p:nvPr/>
        </p:nvSpPr>
        <p:spPr>
          <a:xfrm>
            <a:off x="5019675" y="1395740"/>
            <a:ext cx="10382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ETL Pipeline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FD1FA22-3F0B-4776-EB45-E3B92ACA9BEF}"/>
              </a:ext>
            </a:extLst>
          </p:cNvPr>
          <p:cNvSpPr/>
          <p:nvPr/>
        </p:nvSpPr>
        <p:spPr>
          <a:xfrm>
            <a:off x="5962650" y="1000125"/>
            <a:ext cx="3086100" cy="13144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ETL Pipeline</a:t>
            </a:r>
          </a:p>
          <a:p>
            <a:pPr algn="ctr"/>
            <a:r>
              <a:rPr lang="en-US" sz="1200" dirty="0"/>
              <a:t>- Extract: Load from HDFS</a:t>
            </a:r>
          </a:p>
          <a:p>
            <a:pPr algn="ctr"/>
            <a:r>
              <a:rPr lang="en-US" sz="1200" dirty="0"/>
              <a:t>- Transform: Clean, lowercase, add source column</a:t>
            </a:r>
          </a:p>
          <a:p>
            <a:pPr algn="ctr"/>
            <a:r>
              <a:rPr lang="en-US" sz="1200" dirty="0"/>
              <a:t>- Load: Save cleaned data to HDFS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D5F90D-40AD-0C4B-ED90-EC2C3B1647B0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9048750" y="1657350"/>
            <a:ext cx="1295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BAD9F0A-B829-6236-7C6F-1A48DBC5D88A}"/>
              </a:ext>
            </a:extLst>
          </p:cNvPr>
          <p:cNvSpPr txBox="1"/>
          <p:nvPr/>
        </p:nvSpPr>
        <p:spPr>
          <a:xfrm>
            <a:off x="9048750" y="1357641"/>
            <a:ext cx="12954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Merging Datasets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E8CD060-1490-F68C-38BB-FB386846B9B8}"/>
              </a:ext>
            </a:extLst>
          </p:cNvPr>
          <p:cNvSpPr/>
          <p:nvPr/>
        </p:nvSpPr>
        <p:spPr>
          <a:xfrm>
            <a:off x="10344151" y="962026"/>
            <a:ext cx="1543050" cy="13525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Merging Datasets</a:t>
            </a:r>
          </a:p>
          <a:p>
            <a:pPr algn="ctr"/>
            <a:r>
              <a:rPr lang="en-US" sz="1100" dirty="0"/>
              <a:t>- Combine structured &amp; semi-structured</a:t>
            </a:r>
          </a:p>
          <a:p>
            <a:pPr algn="ctr"/>
            <a:r>
              <a:rPr lang="en-US" sz="1100" dirty="0"/>
              <a:t>- Align columns &amp; handle missing values</a:t>
            </a:r>
          </a:p>
          <a:p>
            <a:pPr algn="ctr"/>
            <a:r>
              <a:rPr lang="en-US" sz="1100" dirty="0"/>
              <a:t>- Store temporarily in HDFS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7E6D987-490F-649A-2FD0-277C82EA69F2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11115676" y="2314570"/>
            <a:ext cx="0" cy="6667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82B28B6-55A4-83AC-A789-CB7FC34ACD60}"/>
              </a:ext>
            </a:extLst>
          </p:cNvPr>
          <p:cNvSpPr txBox="1"/>
          <p:nvPr/>
        </p:nvSpPr>
        <p:spPr>
          <a:xfrm rot="5400000">
            <a:off x="10978377" y="2428383"/>
            <a:ext cx="4892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Store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D82D018-2D24-2A8D-7061-494D9ACD6AD0}"/>
              </a:ext>
            </a:extLst>
          </p:cNvPr>
          <p:cNvSpPr/>
          <p:nvPr/>
        </p:nvSpPr>
        <p:spPr>
          <a:xfrm>
            <a:off x="9829801" y="2981325"/>
            <a:ext cx="2057400" cy="12096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Take the temporary data and store it permanently (</a:t>
            </a:r>
            <a:r>
              <a:rPr lang="en-US" sz="1100" dirty="0" err="1"/>
              <a:t>final_dataset</a:t>
            </a:r>
            <a:r>
              <a:rPr lang="en-US" sz="1100" dirty="0"/>
              <a:t>) to </a:t>
            </a:r>
            <a:r>
              <a:rPr lang="en-US" sz="1100" dirty="0" err="1"/>
              <a:t>hdfs</a:t>
            </a:r>
            <a:endParaRPr lang="en-US" sz="110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E7F86B3-0417-D1A1-6D07-7CE5072DF78A}"/>
              </a:ext>
            </a:extLst>
          </p:cNvPr>
          <p:cNvSpPr/>
          <p:nvPr/>
        </p:nvSpPr>
        <p:spPr>
          <a:xfrm>
            <a:off x="6057900" y="3076573"/>
            <a:ext cx="2171700" cy="10191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Exploratory Data Analysis (EDA)</a:t>
            </a:r>
          </a:p>
          <a:p>
            <a:pPr algn="ctr"/>
            <a:r>
              <a:rPr lang="en-US" sz="1100" dirty="0"/>
              <a:t>- Inspect dataset structure</a:t>
            </a:r>
          </a:p>
          <a:p>
            <a:pPr algn="ctr"/>
            <a:r>
              <a:rPr lang="en-US" sz="1100" dirty="0"/>
              <a:t>- Count missing values</a:t>
            </a:r>
          </a:p>
          <a:p>
            <a:pPr algn="ctr"/>
            <a:r>
              <a:rPr lang="en-US" sz="1100" dirty="0"/>
              <a:t>- Analyze top text values</a:t>
            </a:r>
          </a:p>
          <a:p>
            <a:pPr algn="ctr"/>
            <a:r>
              <a:rPr lang="en-US" sz="1100" dirty="0"/>
              <a:t>- Numeric statistics &amp; distributions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30F6BC4-8BDD-DE69-1A01-672C5D8476A3}"/>
              </a:ext>
            </a:extLst>
          </p:cNvPr>
          <p:cNvCxnSpPr>
            <a:cxnSpLocks/>
            <a:stCxn id="30" idx="1"/>
          </p:cNvCxnSpPr>
          <p:nvPr/>
        </p:nvCxnSpPr>
        <p:spPr>
          <a:xfrm flipH="1">
            <a:off x="8229600" y="3586162"/>
            <a:ext cx="16002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D71A9210-BDF8-DDE5-6C87-8258E8983A67}"/>
              </a:ext>
            </a:extLst>
          </p:cNvPr>
          <p:cNvSpPr txBox="1"/>
          <p:nvPr/>
        </p:nvSpPr>
        <p:spPr>
          <a:xfrm>
            <a:off x="8229600" y="3324551"/>
            <a:ext cx="1714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Exploratory Data Analysis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C39B0F6-4879-67B5-D154-AEDC3515BEAA}"/>
              </a:ext>
            </a:extLst>
          </p:cNvPr>
          <p:cNvCxnSpPr>
            <a:cxnSpLocks/>
            <a:stCxn id="31" idx="1"/>
          </p:cNvCxnSpPr>
          <p:nvPr/>
        </p:nvCxnSpPr>
        <p:spPr>
          <a:xfrm flipH="1" flipV="1">
            <a:off x="4762499" y="3586160"/>
            <a:ext cx="1295401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AF691CC-56B5-64F1-24BE-42A4827FD9A2}"/>
              </a:ext>
            </a:extLst>
          </p:cNvPr>
          <p:cNvSpPr txBox="1"/>
          <p:nvPr/>
        </p:nvSpPr>
        <p:spPr>
          <a:xfrm>
            <a:off x="4762499" y="3333749"/>
            <a:ext cx="15049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Feature Engineering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29B4142-9F09-D630-9F95-0CDD6A7F68B9}"/>
              </a:ext>
            </a:extLst>
          </p:cNvPr>
          <p:cNvSpPr/>
          <p:nvPr/>
        </p:nvSpPr>
        <p:spPr>
          <a:xfrm>
            <a:off x="2705099" y="2981326"/>
            <a:ext cx="2057400" cy="1209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Feature Engineering</a:t>
            </a:r>
          </a:p>
          <a:p>
            <a:pPr algn="ctr"/>
            <a:r>
              <a:rPr lang="en-US" sz="1100" dirty="0"/>
              <a:t>- Clean text: lowercase, remove symbols &amp; </a:t>
            </a:r>
            <a:r>
              <a:rPr lang="en-US" sz="1100" dirty="0" err="1"/>
              <a:t>stopwords</a:t>
            </a:r>
            <a:endParaRPr lang="en-US" sz="1100" dirty="0"/>
          </a:p>
          <a:p>
            <a:pPr algn="ctr"/>
            <a:r>
              <a:rPr lang="en-US" sz="1100" dirty="0"/>
              <a:t>- Convert to TF-IDF vectors</a:t>
            </a:r>
          </a:p>
          <a:p>
            <a:pPr algn="ctr"/>
            <a:r>
              <a:rPr lang="en-US" sz="1100" dirty="0"/>
              <a:t>- Generate sentiment labels: Positive, Negative, Neutral</a:t>
            </a:r>
          </a:p>
          <a:p>
            <a:pPr algn="ctr"/>
            <a:endParaRPr lang="en-US" sz="1100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173764B1-795C-69F8-34AB-0D5E8748CAE0}"/>
              </a:ext>
            </a:extLst>
          </p:cNvPr>
          <p:cNvCxnSpPr>
            <a:cxnSpLocks/>
            <a:stCxn id="41" idx="1"/>
          </p:cNvCxnSpPr>
          <p:nvPr/>
        </p:nvCxnSpPr>
        <p:spPr>
          <a:xfrm rot="10800000" flipV="1">
            <a:off x="1624011" y="3586162"/>
            <a:ext cx="1081088" cy="113823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F96DD50-642E-43EF-FE82-01257282B70A}"/>
              </a:ext>
            </a:extLst>
          </p:cNvPr>
          <p:cNvSpPr txBox="1"/>
          <p:nvPr/>
        </p:nvSpPr>
        <p:spPr>
          <a:xfrm rot="16200000">
            <a:off x="984567" y="3823339"/>
            <a:ext cx="105028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Model Training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15298B1-7FF5-3838-1CD9-D0FCC67F0B35}"/>
              </a:ext>
            </a:extLst>
          </p:cNvPr>
          <p:cNvSpPr/>
          <p:nvPr/>
        </p:nvSpPr>
        <p:spPr>
          <a:xfrm>
            <a:off x="712158" y="4724400"/>
            <a:ext cx="1826254" cy="10502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Model Training</a:t>
            </a:r>
          </a:p>
          <a:p>
            <a:pPr algn="ctr"/>
            <a:r>
              <a:rPr lang="en-US" sz="1100" dirty="0"/>
              <a:t>- Logistic Regression</a:t>
            </a:r>
          </a:p>
          <a:p>
            <a:pPr algn="ctr"/>
            <a:r>
              <a:rPr lang="en-US" sz="1100" dirty="0"/>
              <a:t>- Multinomial Naive Bayes</a:t>
            </a:r>
          </a:p>
          <a:p>
            <a:pPr algn="ctr"/>
            <a:r>
              <a:rPr lang="en-US" sz="1100" dirty="0"/>
              <a:t>- Linear SVM</a:t>
            </a:r>
          </a:p>
          <a:p>
            <a:pPr algn="ctr"/>
            <a:r>
              <a:rPr lang="en-US" sz="1100" dirty="0"/>
              <a:t>- Training on TF-IDF features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B69975E-1200-7A2C-5242-28B8C0A9380E}"/>
              </a:ext>
            </a:extLst>
          </p:cNvPr>
          <p:cNvCxnSpPr>
            <a:cxnSpLocks/>
            <a:stCxn id="49" idx="3"/>
          </p:cNvCxnSpPr>
          <p:nvPr/>
        </p:nvCxnSpPr>
        <p:spPr>
          <a:xfrm>
            <a:off x="2538412" y="5249544"/>
            <a:ext cx="210303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765FA00-C975-5D69-592E-298372A08156}"/>
              </a:ext>
            </a:extLst>
          </p:cNvPr>
          <p:cNvSpPr txBox="1"/>
          <p:nvPr/>
        </p:nvSpPr>
        <p:spPr>
          <a:xfrm>
            <a:off x="2573465" y="5000520"/>
            <a:ext cx="203292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Model Evaluation &amp; Comparison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E9CE1C9-8980-EB38-BEBC-71692A201625}"/>
              </a:ext>
            </a:extLst>
          </p:cNvPr>
          <p:cNvSpPr/>
          <p:nvPr/>
        </p:nvSpPr>
        <p:spPr>
          <a:xfrm>
            <a:off x="4641447" y="4776358"/>
            <a:ext cx="2103036" cy="9715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Model Evaluation &amp; Comparison</a:t>
            </a:r>
          </a:p>
          <a:p>
            <a:pPr algn="ctr"/>
            <a:r>
              <a:rPr lang="en-US" sz="1100" dirty="0"/>
              <a:t>- Test on unseen data</a:t>
            </a:r>
          </a:p>
          <a:p>
            <a:pPr algn="ctr"/>
            <a:r>
              <a:rPr lang="en-US" sz="1100" dirty="0"/>
              <a:t>- Accuracy, F1-score</a:t>
            </a:r>
          </a:p>
          <a:p>
            <a:pPr algn="ctr"/>
            <a:r>
              <a:rPr lang="en-US" sz="1100" dirty="0"/>
              <a:t>- Compare LR, Naive Bayes, SVM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B8820E3-9C88-D35D-0C28-D840242CEAFD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6744483" y="5262130"/>
            <a:ext cx="11166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E6BF6C2-6829-7D43-82B3-953704034F82}"/>
              </a:ext>
            </a:extLst>
          </p:cNvPr>
          <p:cNvSpPr txBox="1"/>
          <p:nvPr/>
        </p:nvSpPr>
        <p:spPr>
          <a:xfrm>
            <a:off x="6779536" y="5000520"/>
            <a:ext cx="9973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User Interface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AB1000E-4D33-6BC5-69F2-1645CA6B3BDF}"/>
              </a:ext>
            </a:extLst>
          </p:cNvPr>
          <p:cNvSpPr/>
          <p:nvPr/>
        </p:nvSpPr>
        <p:spPr>
          <a:xfrm>
            <a:off x="7861176" y="4736985"/>
            <a:ext cx="3134773" cy="10502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User Interface (</a:t>
            </a:r>
            <a:r>
              <a:rPr lang="en-US" sz="1100" dirty="0" err="1"/>
              <a:t>Streamlit</a:t>
            </a:r>
            <a:r>
              <a:rPr lang="en-US" sz="1100" dirty="0"/>
              <a:t>)</a:t>
            </a:r>
          </a:p>
          <a:p>
            <a:pPr algn="ctr"/>
            <a:r>
              <a:rPr lang="en-US" sz="1100" dirty="0"/>
              <a:t>- Input social media text</a:t>
            </a:r>
          </a:p>
          <a:p>
            <a:pPr algn="ctr"/>
            <a:r>
              <a:rPr lang="en-US" sz="1100" dirty="0"/>
              <a:t>- TF-IDF vectorizer &amp; trained SVM model</a:t>
            </a:r>
          </a:p>
          <a:p>
            <a:pPr algn="ctr"/>
            <a:r>
              <a:rPr lang="en-US" sz="1100" dirty="0"/>
              <a:t>- Predict sentiment: Positive / Neutral / Negative</a:t>
            </a:r>
          </a:p>
          <a:p>
            <a:pPr algn="ctr"/>
            <a:endParaRPr lang="en-US" sz="1100" dirty="0"/>
          </a:p>
        </p:txBody>
      </p:sp>
      <p:sp>
        <p:nvSpPr>
          <p:cNvPr id="62" name="Slide Number Placeholder 61">
            <a:extLst>
              <a:ext uri="{FF2B5EF4-FFF2-40B4-BE49-F238E27FC236}">
                <a16:creationId xmlns:a16="http://schemas.microsoft.com/office/drawing/2014/main" id="{E3C72673-EA96-6414-A2DA-892599565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481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28DEF-4AB2-D816-A6C7-7810F08FE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ETL Pipeline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BAE5C26-98A0-8DB9-B5DE-7F718363679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015366"/>
            <a:ext cx="10164962" cy="39718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 → cleaned → processed</a:t>
            </a: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Raw Data: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noise, duplicates, missing values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Cleaned Data: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Remove duplicates, special characters,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stopwords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 lowercase text; rename &amp; align columns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Processed Data: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Merged datasets stored in Parquet on HDFS, ready for ML &amp; EDA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Configuring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PySpark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connecting to HDFS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Sourcing semi-structured JSON data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HDFS shutdowns during work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0DEF18-5675-6E67-F9E5-ED6C127B3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1852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DE4C9-823E-E8E7-71C6-1B9AFC5FA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3475A-8E31-55AA-757E-1DA78F9F9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KPIs</a:t>
            </a:r>
          </a:p>
          <a:p>
            <a:pPr>
              <a:lnSpc>
                <a:spcPct val="17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Posts Analyzed: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1,173,517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Positive Sentiment: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24.43% |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Neutral: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64.49% |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Negative: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11.07%</a:t>
            </a:r>
          </a:p>
          <a:p>
            <a:pPr>
              <a:lnSpc>
                <a:spcPct val="17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Frequent Words: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the: 1,199,189 to: 755,473 a: 659,840 of: 569,520 and: 558,598 i: 500,492 is: 428,723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that: 424,401 in: 386,209 you: 381,230</a:t>
            </a:r>
          </a:p>
          <a:p>
            <a:pPr marL="0" indent="0">
              <a:buNone/>
            </a:pP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7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Bar chart: Top 10 words</a:t>
            </a:r>
          </a:p>
          <a:p>
            <a:pPr>
              <a:lnSpc>
                <a:spcPct val="17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Pie chart: Sentiment distribution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7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Majority of posts are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Neutral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7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Trending words reveal user interests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2D4A2C-772B-8587-F858-0828B6B6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3015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E800A-0D07-76EC-909B-81F5D33FD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CCA42-8B5C-0F29-ACCC-B25D581D54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Algorithms Used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Multinomial Naive Bayes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Support Vector Machine (SVM)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Features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TF-IDF vectors from cleaned social media text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Captures word importance relative to the corpus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Metrics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Accuracy 91.59% – balanced performance, interpretable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Multinomial Naive Bayes: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Accuracy 72.12% – fast, efficient for sparse text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SVM: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Accuracy 92.32% – high accuracy, robust to high-dimensional data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E43923-C941-8DA2-5F60-C343AA22E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790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F3D7F-B752-481E-5A20-1656DC9F3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185765-54C8-3B63-86A5-7449EC68F2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Features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sentiment prediction for user input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Color-coded output: 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Green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(Positive), 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Gray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(Neutral), 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(Negative)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 input box with instant feedback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Underlying System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 with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Streamlit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easy web interaction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Experience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Simple, intuitive interface for all users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Immediate sentiment analysis without technical setup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025EAF-0C9F-2791-6FD7-A36ABEF16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4598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5E2B0-E35A-ED99-CA52-3496C49FA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Recommendations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40E168-BC2B-5601-6D71-C2B46937E8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60000"/>
              </a:lnSpc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</a:t>
            </a:r>
          </a:p>
          <a:p>
            <a:pPr>
              <a:lnSpc>
                <a:spcPct val="16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Majority of posts show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Neutral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sentiment </a:t>
            </a:r>
          </a:p>
          <a:p>
            <a:pPr>
              <a:lnSpc>
                <a:spcPct val="16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words reveal trending topics and user interests</a:t>
            </a:r>
          </a:p>
          <a:p>
            <a:pPr marL="0" indent="0">
              <a:lnSpc>
                <a:spcPct val="160000"/>
              </a:lnSpc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Actions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6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Engage Positively: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Respond to positive posts to strengthen user loyalty</a:t>
            </a:r>
          </a:p>
          <a:p>
            <a:pPr>
              <a:lnSpc>
                <a:spcPct val="16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 Negative Feedback: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Monitor and respond to negative sentiment quickly</a:t>
            </a:r>
          </a:p>
          <a:p>
            <a:pPr>
              <a:lnSpc>
                <a:spcPct val="16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Monitor Trends: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Regularly update BI dashboards to detect changes in sentiment</a:t>
            </a:r>
          </a:p>
          <a:p>
            <a:pPr>
              <a:lnSpc>
                <a:spcPct val="160000"/>
              </a:lnSpc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DA974-7312-267F-1D24-175189041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339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E0302-C3BA-65AA-DA33-BB07131B4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E88917-BB21-C54A-A966-E25BC42F14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Lessons Learned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 &amp; preprocessing is crucial for accurate sentiment analysis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ETL pipelines help manage structured &amp; semi-structured data efficiently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HDFS shutdowns interrupted data access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Semi-structured data was hard to source &amp; standardize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Improvements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Expand datasets for more diverse social media content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Explore advanced ML/DL models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 real-time analytics and dashboard updates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6E97C-9843-5659-2873-5BDFABFFD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5582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912</Words>
  <Application>Microsoft Office PowerPoint</Application>
  <PresentationFormat>Widescreen</PresentationFormat>
  <Paragraphs>148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Times New Roman</vt:lpstr>
      <vt:lpstr>Office Theme</vt:lpstr>
      <vt:lpstr>SOCIAL MEDIA SENTIMENT Group F</vt:lpstr>
      <vt:lpstr>Introduction</vt:lpstr>
      <vt:lpstr>Data Sources</vt:lpstr>
      <vt:lpstr>Big Data Architecture</vt:lpstr>
      <vt:lpstr>Workflow diagram</vt:lpstr>
      <vt:lpstr>ETL Pipeline</vt:lpstr>
      <vt:lpstr>BI Analysis</vt:lpstr>
      <vt:lpstr>Machine Learning Model</vt:lpstr>
      <vt:lpstr>Dashboard Demo</vt:lpstr>
      <vt:lpstr>Business Recommendations 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Solomon Aragaw</dc:creator>
  <cp:lastModifiedBy>Solomon Aragaw</cp:lastModifiedBy>
  <cp:revision>4</cp:revision>
  <dcterms:created xsi:type="dcterms:W3CDTF">2025-12-23T06:54:26Z</dcterms:created>
  <dcterms:modified xsi:type="dcterms:W3CDTF">2025-12-23T09:13:04Z</dcterms:modified>
</cp:coreProperties>
</file>